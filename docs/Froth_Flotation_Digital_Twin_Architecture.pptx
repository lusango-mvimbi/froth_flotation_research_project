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Froth Flotation Digital Twin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AI/ML-Powered Industrial Process Monitoring &amp; Control</a:t>
            </a:r>
          </a:p>
          <a:p>
            <a:r>
              <a:t>Complete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• Real-time froth flotation process monitoring</a:t>
            </a:r>
          </a:p>
          <a:p>
            <a:r>
              <a:rPr dirty="0"/>
              <a:t>• ML-powered predictive analytics for Pb concentrate optimization</a:t>
            </a:r>
          </a:p>
          <a:p>
            <a:r>
              <a:rPr dirty="0"/>
              <a:t>• Web-based dashboard with authentication</a:t>
            </a:r>
          </a:p>
          <a:p>
            <a:r>
              <a:rPr dirty="0"/>
              <a:t>• Multi-service architecture with microservices</a:t>
            </a:r>
          </a:p>
          <a:p>
            <a:r>
              <a:rPr dirty="0"/>
              <a:t>• SQLite database for data persistence</a:t>
            </a:r>
          </a:p>
          <a:p>
            <a:r>
              <a:rPr dirty="0"/>
              <a:t>• WebSocket communication for real-time updates</a:t>
            </a:r>
          </a:p>
          <a:p>
            <a:r>
              <a:rPr dirty="0"/>
              <a:t>• RESTful APIs for system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2737" y="182880"/>
            <a:ext cx="39785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rPr sz="1200"/>
              <a:t>Froth Flotation Digital Twin - Complete System Architecture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8EE6441-CD1C-D09B-372B-5379E2280746}"/>
              </a:ext>
            </a:extLst>
          </p:cNvPr>
          <p:cNvSpPr txBox="1">
            <a:spLocks/>
          </p:cNvSpPr>
          <p:nvPr/>
        </p:nvSpPr>
        <p:spPr>
          <a:xfrm>
            <a:off x="-510524" y="205253"/>
            <a:ext cx="9115028" cy="52154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/>
              <a:buNone/>
            </a:pPr>
            <a:endParaRPr lang="en-GB" sz="1800"/>
          </a:p>
          <a:p>
            <a:pPr marL="0" indent="0" algn="just">
              <a:lnSpc>
                <a:spcPct val="150000"/>
              </a:lnSpc>
              <a:buFont typeface="Arial"/>
              <a:buNone/>
            </a:pPr>
            <a:endParaRPr lang="en-ZA" sz="1800" dirty="0"/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7B93094A-5AE8-934E-2312-063FA121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3367" y="5690344"/>
            <a:ext cx="2167027" cy="346946"/>
          </a:xfrm>
        </p:spPr>
        <p:txBody>
          <a:bodyPr/>
          <a:lstStyle/>
          <a:p>
            <a:pPr>
              <a:defRPr/>
            </a:pPr>
            <a:fld id="{23EE05B2-D396-4332-94B5-57DC7923146F}" type="slidenum">
              <a:rPr lang="en-ZA" smtClean="0"/>
              <a:pPr>
                <a:defRPr/>
              </a:pPr>
              <a:t>3</a:t>
            </a:fld>
            <a:endParaRPr lang="en-ZA" dirty="0"/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12E5C569-E7D5-4B39-B9C5-D8FCD6F5593B}"/>
              </a:ext>
            </a:extLst>
          </p:cNvPr>
          <p:cNvSpPr/>
          <p:nvPr/>
        </p:nvSpPr>
        <p:spPr>
          <a:xfrm>
            <a:off x="977543" y="1653071"/>
            <a:ext cx="1588051" cy="38422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ZA" dirty="0"/>
              <a:t>Web Browser</a:t>
            </a:r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EE3E8F-B8CA-7A85-800C-2197B2A26DE2}"/>
              </a:ext>
            </a:extLst>
          </p:cNvPr>
          <p:cNvSpPr/>
          <p:nvPr/>
        </p:nvSpPr>
        <p:spPr>
          <a:xfrm>
            <a:off x="3636616" y="380758"/>
            <a:ext cx="2496180" cy="11058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React Development Server (Port 3000)</a:t>
            </a:r>
            <a:endParaRPr lang="en-ZA"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endParaRPr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en-ZA" dirty="0"/>
              <a:t>Process </a:t>
            </a:r>
            <a:r>
              <a:rPr dirty="0"/>
              <a:t>Components • Real-time Charts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Authentication UI • WebSocket Client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56B3D8-3E95-7B23-D1A2-D7230418A3DD}"/>
              </a:ext>
            </a:extLst>
          </p:cNvPr>
          <p:cNvSpPr/>
          <p:nvPr/>
        </p:nvSpPr>
        <p:spPr>
          <a:xfrm>
            <a:off x="7607991" y="1311129"/>
            <a:ext cx="1985063" cy="1105840"/>
          </a:xfrm>
          <a:prstGeom prst="rect">
            <a:avLst/>
          </a:prstGeom>
          <a:solidFill>
            <a:srgbClr val="A569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Flask Auth Service (Port 8051)</a:t>
            </a:r>
            <a:endParaRPr lang="en-ZA"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endParaRPr sz="1200" dirty="0">
              <a:solidFill>
                <a:schemeClr val="tx1"/>
              </a:solidFill>
            </a:endParaRP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• User Authentication </a:t>
            </a:r>
            <a:endParaRPr lang="en-ZA" dirty="0"/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• Session Management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• Token Validation • Login/Logout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274351-8DBC-741D-C66E-CDB040F8DBC1}"/>
              </a:ext>
            </a:extLst>
          </p:cNvPr>
          <p:cNvSpPr/>
          <p:nvPr/>
        </p:nvSpPr>
        <p:spPr>
          <a:xfrm>
            <a:off x="3636615" y="2738184"/>
            <a:ext cx="2498686" cy="1068071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 err="1">
                <a:solidFill>
                  <a:schemeClr val="tx1"/>
                </a:solidFill>
              </a:rPr>
              <a:t>FastAPI</a:t>
            </a:r>
            <a:r>
              <a:rPr sz="1200" dirty="0">
                <a:solidFill>
                  <a:schemeClr val="tx1"/>
                </a:solidFill>
              </a:rPr>
              <a:t> Backend Server</a:t>
            </a:r>
            <a:r>
              <a:rPr lang="en-ZA" sz="1200" dirty="0">
                <a:solidFill>
                  <a:schemeClr val="tx1"/>
                </a:solidFill>
              </a:rPr>
              <a:t> (Port 8000)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endParaRPr sz="1200" dirty="0"/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RESTful APIs • WebSocket Server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Real-time Data Generation • Process Simulation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Data Validation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071E-684C-1A0C-EA62-F23D8BF672E7}"/>
              </a:ext>
            </a:extLst>
          </p:cNvPr>
          <p:cNvSpPr/>
          <p:nvPr/>
        </p:nvSpPr>
        <p:spPr>
          <a:xfrm>
            <a:off x="256274" y="4891399"/>
            <a:ext cx="2760788" cy="959746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ML Model Service</a:t>
            </a:r>
            <a:endParaRPr lang="en-ZA"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endParaRPr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Gradient Boosting Model • Pb Concentrate Prediction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Process Status Analysis • Feature Engineering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Model Persistence</a:t>
            </a:r>
          </a:p>
        </p:txBody>
      </p: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54566283-B3F3-A57E-8859-BBDB6D5FA1CA}"/>
              </a:ext>
            </a:extLst>
          </p:cNvPr>
          <p:cNvSpPr/>
          <p:nvPr/>
        </p:nvSpPr>
        <p:spPr>
          <a:xfrm>
            <a:off x="-339133" y="2706562"/>
            <a:ext cx="1985063" cy="110584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• Sensor Data Storage</a:t>
            </a:r>
            <a:endParaRPr lang="en-ZA" dirty="0"/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• User Management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• Session Storage </a:t>
            </a:r>
            <a:endParaRPr lang="en-ZA" dirty="0"/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• Process Events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7D3D5B-3E75-5DDE-B3A4-6F3E705CB005}"/>
              </a:ext>
            </a:extLst>
          </p:cNvPr>
          <p:cNvSpPr/>
          <p:nvPr/>
        </p:nvSpPr>
        <p:spPr>
          <a:xfrm>
            <a:off x="7561764" y="3308457"/>
            <a:ext cx="1985063" cy="64164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Logging &amp; Monitoring</a:t>
            </a:r>
            <a:endParaRPr lang="en-ZA"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endParaRPr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Service Logs • Performance Metrics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Error Tracking • System Health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7FD1B2-2EB0-C091-4369-BF2A461093C4}"/>
              </a:ext>
            </a:extLst>
          </p:cNvPr>
          <p:cNvSpPr/>
          <p:nvPr/>
        </p:nvSpPr>
        <p:spPr>
          <a:xfrm>
            <a:off x="6516389" y="4634894"/>
            <a:ext cx="1985063" cy="884776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Data Sources</a:t>
            </a:r>
            <a:endParaRPr lang="en-ZA"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endParaRPr sz="1200" dirty="0">
              <a:solidFill>
                <a:schemeClr val="tx1"/>
              </a:solidFill>
            </a:endParaRP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Historical Sensor Data </a:t>
            </a:r>
            <a:endParaRPr lang="en-ZA" dirty="0"/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Process Parameters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rPr dirty="0"/>
              <a:t>• Training Datasets • Real-time Feeds</a:t>
            </a:r>
          </a:p>
        </p:txBody>
      </p:sp>
      <p:cxnSp>
        <p:nvCxnSpPr>
          <p:cNvPr id="34" name="Connector 15">
            <a:extLst>
              <a:ext uri="{FF2B5EF4-FFF2-40B4-BE49-F238E27FC236}">
                <a16:creationId xmlns:a16="http://schemas.microsoft.com/office/drawing/2014/main" id="{D179151C-5486-B80C-3316-05B5D1A2C2D8}"/>
              </a:ext>
            </a:extLst>
          </p:cNvPr>
          <p:cNvCxnSpPr>
            <a:cxnSpLocks/>
            <a:stCxn id="29" idx="1"/>
            <a:endCxn id="38" idx="3"/>
          </p:cNvCxnSpPr>
          <p:nvPr/>
        </p:nvCxnSpPr>
        <p:spPr>
          <a:xfrm flipH="1">
            <a:off x="2991304" y="3272220"/>
            <a:ext cx="645311" cy="1534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9334A9-4BDC-C3EF-22D8-66B67D44FD11}"/>
              </a:ext>
            </a:extLst>
          </p:cNvPr>
          <p:cNvSpPr txBox="1"/>
          <p:nvPr/>
        </p:nvSpPr>
        <p:spPr>
          <a:xfrm>
            <a:off x="1319668" y="897575"/>
            <a:ext cx="1027928" cy="2308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dirty="0"/>
              <a:t>HTTP/WebSocket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57C4B0-D768-2C1C-E5BE-C46596984AF3}"/>
              </a:ext>
            </a:extLst>
          </p:cNvPr>
          <p:cNvSpPr txBox="1"/>
          <p:nvPr/>
        </p:nvSpPr>
        <p:spPr>
          <a:xfrm>
            <a:off x="4716669" y="2105715"/>
            <a:ext cx="620435" cy="2308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dirty="0"/>
              <a:t>REST API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913E84-760D-883D-0488-A34CC3E2CD07}"/>
              </a:ext>
            </a:extLst>
          </p:cNvPr>
          <p:cNvSpPr txBox="1"/>
          <p:nvPr/>
        </p:nvSpPr>
        <p:spPr>
          <a:xfrm>
            <a:off x="2570633" y="4397452"/>
            <a:ext cx="430809" cy="2308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dirty="0"/>
              <a:t>HTTP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7816B7-94AE-3751-A2C4-8707EECDD69F}"/>
              </a:ext>
            </a:extLst>
          </p:cNvPr>
          <p:cNvSpPr txBox="1"/>
          <p:nvPr/>
        </p:nvSpPr>
        <p:spPr>
          <a:xfrm>
            <a:off x="2493616" y="3240986"/>
            <a:ext cx="49768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dirty="0"/>
              <a:t>SQL</a:t>
            </a:r>
            <a:r>
              <a:rPr lang="en-ZA" dirty="0"/>
              <a:t>ITE</a:t>
            </a:r>
            <a:endParaRPr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062930-A6D1-2778-6149-9EA0295F6F26}"/>
              </a:ext>
            </a:extLst>
          </p:cNvPr>
          <p:cNvSpPr txBox="1"/>
          <p:nvPr/>
        </p:nvSpPr>
        <p:spPr>
          <a:xfrm>
            <a:off x="7576647" y="2830261"/>
            <a:ext cx="49484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dirty="0"/>
              <a:t>File I/O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CF78DD-BCD0-CADE-E958-26FB2939EAC3}"/>
              </a:ext>
            </a:extLst>
          </p:cNvPr>
          <p:cNvSpPr txBox="1"/>
          <p:nvPr/>
        </p:nvSpPr>
        <p:spPr>
          <a:xfrm>
            <a:off x="4690658" y="5031582"/>
            <a:ext cx="665607" cy="2308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dirty="0"/>
              <a:t>Data Feed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BA7310B-6B63-287A-FC6A-65301587CF1A}"/>
              </a:ext>
            </a:extLst>
          </p:cNvPr>
          <p:cNvCxnSpPr>
            <a:cxnSpLocks/>
            <a:stCxn id="48" idx="3"/>
            <a:endCxn id="28" idx="0"/>
          </p:cNvCxnSpPr>
          <p:nvPr/>
        </p:nvCxnSpPr>
        <p:spPr>
          <a:xfrm>
            <a:off x="8528712" y="600106"/>
            <a:ext cx="71811" cy="711023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E58004F-E3E1-090E-5CCE-F9463239E792}"/>
              </a:ext>
            </a:extLst>
          </p:cNvPr>
          <p:cNvCxnSpPr>
            <a:cxnSpLocks/>
            <a:stCxn id="27" idx="3"/>
            <a:endCxn id="48" idx="1"/>
          </p:cNvCxnSpPr>
          <p:nvPr/>
        </p:nvCxnSpPr>
        <p:spPr>
          <a:xfrm flipV="1">
            <a:off x="6132796" y="600106"/>
            <a:ext cx="1775481" cy="33357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Connector 15">
            <a:extLst>
              <a:ext uri="{FF2B5EF4-FFF2-40B4-BE49-F238E27FC236}">
                <a16:creationId xmlns:a16="http://schemas.microsoft.com/office/drawing/2014/main" id="{49D71A2A-B343-C07B-771D-E863827FD735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1946867" y="3346642"/>
            <a:ext cx="546749" cy="7901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F0C547-3F63-BABD-B112-22F1FE546B5C}"/>
              </a:ext>
            </a:extLst>
          </p:cNvPr>
          <p:cNvCxnSpPr>
            <a:cxnSpLocks/>
            <a:stCxn id="35" idx="2"/>
            <a:endCxn id="26" idx="0"/>
          </p:cNvCxnSpPr>
          <p:nvPr/>
        </p:nvCxnSpPr>
        <p:spPr>
          <a:xfrm flipH="1">
            <a:off x="1771569" y="1128407"/>
            <a:ext cx="62063" cy="524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D68D40A-03A4-424D-553D-DBE92F7AB5FE}"/>
              </a:ext>
            </a:extLst>
          </p:cNvPr>
          <p:cNvCxnSpPr>
            <a:cxnSpLocks/>
            <a:stCxn id="37" idx="3"/>
            <a:endCxn id="29" idx="2"/>
          </p:cNvCxnSpPr>
          <p:nvPr/>
        </p:nvCxnSpPr>
        <p:spPr>
          <a:xfrm flipV="1">
            <a:off x="3001442" y="3806255"/>
            <a:ext cx="1884516" cy="706613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5DACDAE-83FB-DC3A-A4FE-AC31882CB670}"/>
              </a:ext>
            </a:extLst>
          </p:cNvPr>
          <p:cNvCxnSpPr>
            <a:cxnSpLocks/>
            <a:stCxn id="39" idx="3"/>
            <a:endCxn id="32" idx="0"/>
          </p:cNvCxnSpPr>
          <p:nvPr/>
        </p:nvCxnSpPr>
        <p:spPr>
          <a:xfrm>
            <a:off x="8071490" y="3014927"/>
            <a:ext cx="482806" cy="29353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6EE4D54-555A-9BC8-ED26-153DAC2B3144}"/>
              </a:ext>
            </a:extLst>
          </p:cNvPr>
          <p:cNvCxnSpPr>
            <a:cxnSpLocks/>
            <a:stCxn id="29" idx="3"/>
            <a:endCxn id="39" idx="1"/>
          </p:cNvCxnSpPr>
          <p:nvPr/>
        </p:nvCxnSpPr>
        <p:spPr>
          <a:xfrm flipV="1">
            <a:off x="6135301" y="3014927"/>
            <a:ext cx="1441346" cy="25729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4FA2AAE-B988-C9E3-D2B3-C3245544C3C0}"/>
              </a:ext>
            </a:extLst>
          </p:cNvPr>
          <p:cNvSpPr txBox="1"/>
          <p:nvPr/>
        </p:nvSpPr>
        <p:spPr>
          <a:xfrm>
            <a:off x="7908277" y="484690"/>
            <a:ext cx="620435" cy="2308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dirty="0"/>
              <a:t>REST API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2D7CCFE-63A8-34FE-E924-531079986C2F}"/>
              </a:ext>
            </a:extLst>
          </p:cNvPr>
          <p:cNvCxnSpPr>
            <a:cxnSpLocks/>
            <a:stCxn id="40" idx="0"/>
            <a:endCxn id="29" idx="2"/>
          </p:cNvCxnSpPr>
          <p:nvPr/>
        </p:nvCxnSpPr>
        <p:spPr>
          <a:xfrm rot="16200000" flipV="1">
            <a:off x="4342047" y="4350167"/>
            <a:ext cx="1225327" cy="13750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9F3DCE09-B041-6973-406B-770377BFDFE4}"/>
              </a:ext>
            </a:extLst>
          </p:cNvPr>
          <p:cNvCxnSpPr>
            <a:cxnSpLocks/>
            <a:stCxn id="30" idx="0"/>
            <a:endCxn id="37" idx="1"/>
          </p:cNvCxnSpPr>
          <p:nvPr/>
        </p:nvCxnSpPr>
        <p:spPr>
          <a:xfrm rot="5400000" flipH="1" flipV="1">
            <a:off x="1914385" y="4235152"/>
            <a:ext cx="378531" cy="93396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or 15">
            <a:extLst>
              <a:ext uri="{FF2B5EF4-FFF2-40B4-BE49-F238E27FC236}">
                <a16:creationId xmlns:a16="http://schemas.microsoft.com/office/drawing/2014/main" id="{91BB02DB-2157-9742-90E0-5D5D68C19B2A}"/>
              </a:ext>
            </a:extLst>
          </p:cNvPr>
          <p:cNvCxnSpPr>
            <a:cxnSpLocks/>
            <a:stCxn id="29" idx="0"/>
            <a:endCxn id="36" idx="2"/>
          </p:cNvCxnSpPr>
          <p:nvPr/>
        </p:nvCxnSpPr>
        <p:spPr>
          <a:xfrm flipV="1">
            <a:off x="4885958" y="2336547"/>
            <a:ext cx="140929" cy="40163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onnector 15">
            <a:extLst>
              <a:ext uri="{FF2B5EF4-FFF2-40B4-BE49-F238E27FC236}">
                <a16:creationId xmlns:a16="http://schemas.microsoft.com/office/drawing/2014/main" id="{9C48BD52-2E16-E4EE-8D09-06CEA24FD2FE}"/>
              </a:ext>
            </a:extLst>
          </p:cNvPr>
          <p:cNvCxnSpPr>
            <a:cxnSpLocks/>
            <a:stCxn id="36" idx="0"/>
            <a:endCxn id="27" idx="2"/>
          </p:cNvCxnSpPr>
          <p:nvPr/>
        </p:nvCxnSpPr>
        <p:spPr>
          <a:xfrm flipH="1" flipV="1">
            <a:off x="4884706" y="1486598"/>
            <a:ext cx="142181" cy="61911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9767C69-6E3A-C2C2-68AF-64C0030E77BA}"/>
              </a:ext>
            </a:extLst>
          </p:cNvPr>
          <p:cNvCxnSpPr>
            <a:cxnSpLocks/>
            <a:stCxn id="27" idx="1"/>
            <a:endCxn id="35" idx="3"/>
          </p:cNvCxnSpPr>
          <p:nvPr/>
        </p:nvCxnSpPr>
        <p:spPr>
          <a:xfrm flipH="1">
            <a:off x="2347596" y="933678"/>
            <a:ext cx="1289020" cy="7931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5BC8662-3F74-B31F-63CA-A1FA840CF36A}"/>
              </a:ext>
            </a:extLst>
          </p:cNvPr>
          <p:cNvCxnSpPr>
            <a:cxnSpLocks/>
            <a:stCxn id="28" idx="1"/>
            <a:endCxn id="55" idx="1"/>
          </p:cNvCxnSpPr>
          <p:nvPr/>
        </p:nvCxnSpPr>
        <p:spPr>
          <a:xfrm rot="10800000" flipV="1">
            <a:off x="6744761" y="1864048"/>
            <a:ext cx="863231" cy="59637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Flowchart: Magnetic Disk 54">
            <a:extLst>
              <a:ext uri="{FF2B5EF4-FFF2-40B4-BE49-F238E27FC236}">
                <a16:creationId xmlns:a16="http://schemas.microsoft.com/office/drawing/2014/main" id="{E1D08C48-3B5C-120A-4315-FC6C98FBE3EC}"/>
              </a:ext>
            </a:extLst>
          </p:cNvPr>
          <p:cNvSpPr/>
          <p:nvPr/>
        </p:nvSpPr>
        <p:spPr>
          <a:xfrm>
            <a:off x="6424310" y="1923686"/>
            <a:ext cx="640900" cy="36344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500" dirty="0"/>
              <a:t>SQLITE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E58638C-468B-8755-0BFB-54A5D6899D80}"/>
              </a:ext>
            </a:extLst>
          </p:cNvPr>
          <p:cNvCxnSpPr>
            <a:cxnSpLocks/>
            <a:stCxn id="33" idx="1"/>
            <a:endCxn id="40" idx="3"/>
          </p:cNvCxnSpPr>
          <p:nvPr/>
        </p:nvCxnSpPr>
        <p:spPr>
          <a:xfrm flipH="1">
            <a:off x="5356265" y="5077282"/>
            <a:ext cx="1160124" cy="6971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200" dirty="0"/>
              <a:t>Normal Data Flow:</a:t>
            </a:r>
          </a:p>
          <a:p>
            <a:r>
              <a:rPr sz="1200" dirty="0"/>
              <a:t>• Web Browser ↔ React Server (HTTP/WebSocket)</a:t>
            </a:r>
          </a:p>
          <a:p>
            <a:r>
              <a:rPr sz="1200" dirty="0"/>
              <a:t>• React Server ↔ </a:t>
            </a:r>
            <a:r>
              <a:rPr sz="1200" dirty="0" err="1"/>
              <a:t>FastAPI</a:t>
            </a:r>
            <a:r>
              <a:rPr sz="1200" dirty="0"/>
              <a:t> Backend (REST API)</a:t>
            </a:r>
          </a:p>
          <a:p>
            <a:r>
              <a:rPr sz="1200" dirty="0"/>
              <a:t>• </a:t>
            </a:r>
            <a:r>
              <a:rPr sz="1200" dirty="0" err="1"/>
              <a:t>FastAPI</a:t>
            </a:r>
            <a:r>
              <a:rPr sz="1200" dirty="0"/>
              <a:t> ↔ SQLite Database (SQL Queries)</a:t>
            </a:r>
          </a:p>
          <a:p>
            <a:r>
              <a:rPr sz="1200" dirty="0"/>
              <a:t>• </a:t>
            </a:r>
            <a:r>
              <a:rPr sz="1200" dirty="0" err="1"/>
              <a:t>FastAPI</a:t>
            </a:r>
            <a:r>
              <a:rPr sz="1200" dirty="0"/>
              <a:t> ↔ Logging System (File I/O)</a:t>
            </a:r>
          </a:p>
          <a:p>
            <a:endParaRPr sz="1200" dirty="0"/>
          </a:p>
          <a:p>
            <a:r>
              <a:rPr sz="1200" dirty="0"/>
              <a:t>AI/ML Decision Flow:</a:t>
            </a:r>
          </a:p>
          <a:p>
            <a:r>
              <a:rPr sz="1200" dirty="0"/>
              <a:t>• </a:t>
            </a:r>
            <a:r>
              <a:rPr sz="1200" dirty="0" err="1"/>
              <a:t>FastAPI</a:t>
            </a:r>
            <a:r>
              <a:rPr sz="1200" dirty="0"/>
              <a:t> Backend → ML Model Service (HTTP)</a:t>
            </a:r>
          </a:p>
          <a:p>
            <a:r>
              <a:rPr sz="1200" dirty="0"/>
              <a:t>• ML Model Service → Gradient Boosting Model (Prediction)</a:t>
            </a:r>
          </a:p>
          <a:p>
            <a:r>
              <a:rPr sz="1200" dirty="0"/>
              <a:t>• ML Model Service → </a:t>
            </a:r>
            <a:r>
              <a:rPr sz="1200" dirty="0" err="1"/>
              <a:t>FastAPI</a:t>
            </a:r>
            <a:r>
              <a:rPr sz="1200" dirty="0"/>
              <a:t> Backend (Results)</a:t>
            </a:r>
          </a:p>
          <a:p>
            <a:r>
              <a:rPr sz="1200" dirty="0"/>
              <a:t>• </a:t>
            </a:r>
            <a:r>
              <a:rPr sz="1200" dirty="0" err="1"/>
              <a:t>FastAPI</a:t>
            </a:r>
            <a:r>
              <a:rPr sz="1200" dirty="0"/>
              <a:t> Backend → Frontend (Real-time Updates)</a:t>
            </a:r>
          </a:p>
          <a:p>
            <a:endParaRPr sz="1200" dirty="0"/>
          </a:p>
          <a:p>
            <a:r>
              <a:rPr sz="1200" dirty="0"/>
              <a:t>Authentication Flow:</a:t>
            </a:r>
          </a:p>
          <a:p>
            <a:r>
              <a:rPr sz="1200" dirty="0"/>
              <a:t>• Frontend → Auth Service (Login Request)</a:t>
            </a:r>
          </a:p>
          <a:p>
            <a:r>
              <a:rPr sz="1200" dirty="0"/>
              <a:t>• Auth Service → Database (User Validation)</a:t>
            </a:r>
          </a:p>
          <a:p>
            <a:r>
              <a:rPr sz="1200" dirty="0"/>
              <a:t>• Auth Service → Frontend (Token Response)</a:t>
            </a:r>
          </a:p>
          <a:p>
            <a:r>
              <a:rPr sz="1200" dirty="0"/>
              <a:t>• Frontend → Backend (Token Verification)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200" dirty="0"/>
              <a:t>Frontend:</a:t>
            </a:r>
          </a:p>
          <a:p>
            <a:r>
              <a:rPr sz="1200" dirty="0"/>
              <a:t>• React.js (Dashboard &amp; UI)</a:t>
            </a:r>
          </a:p>
          <a:p>
            <a:r>
              <a:rPr sz="1200" dirty="0"/>
              <a:t>• Tailwind CSS (Styling)</a:t>
            </a:r>
          </a:p>
          <a:p>
            <a:r>
              <a:rPr sz="1200" dirty="0"/>
              <a:t>• Chart.js (Data Visualization)</a:t>
            </a:r>
          </a:p>
          <a:p>
            <a:r>
              <a:rPr sz="1200" dirty="0"/>
              <a:t>• WebSocket Client (Real-time)</a:t>
            </a:r>
          </a:p>
          <a:p>
            <a:endParaRPr sz="1200" dirty="0"/>
          </a:p>
          <a:p>
            <a:r>
              <a:rPr sz="1200" dirty="0"/>
              <a:t>Backend:</a:t>
            </a:r>
          </a:p>
          <a:p>
            <a:r>
              <a:rPr sz="1200" dirty="0"/>
              <a:t>• </a:t>
            </a:r>
            <a:r>
              <a:rPr sz="1200" dirty="0" err="1"/>
              <a:t>FastAPI</a:t>
            </a:r>
            <a:r>
              <a:rPr sz="1200" dirty="0"/>
              <a:t> (REST API &amp; WebSocket)</a:t>
            </a:r>
          </a:p>
          <a:p>
            <a:r>
              <a:rPr sz="1200" dirty="0"/>
              <a:t>• Flask (Authentication Service)</a:t>
            </a:r>
          </a:p>
          <a:p>
            <a:r>
              <a:rPr sz="1200" dirty="0"/>
              <a:t>• SQLite (Database)</a:t>
            </a:r>
          </a:p>
          <a:p>
            <a:r>
              <a:rPr sz="1200" dirty="0"/>
              <a:t>• Python 3.13</a:t>
            </a:r>
          </a:p>
          <a:p>
            <a:endParaRPr sz="1200" dirty="0"/>
          </a:p>
          <a:p>
            <a:r>
              <a:rPr sz="1200" dirty="0"/>
              <a:t>Machine Learning:</a:t>
            </a:r>
          </a:p>
          <a:p>
            <a:r>
              <a:rPr sz="1200" dirty="0"/>
              <a:t>• Scikit-learn (Gradient Boosting)</a:t>
            </a:r>
          </a:p>
          <a:p>
            <a:r>
              <a:rPr sz="1200" dirty="0"/>
              <a:t>• Pandas (Data Processing)</a:t>
            </a:r>
          </a:p>
          <a:p>
            <a:r>
              <a:rPr sz="1200" dirty="0"/>
              <a:t>• NumPy (Numerical Operations)</a:t>
            </a:r>
          </a:p>
          <a:p>
            <a:r>
              <a:rPr sz="1200" dirty="0"/>
              <a:t>• </a:t>
            </a:r>
            <a:r>
              <a:rPr sz="1200" dirty="0" err="1"/>
              <a:t>Joblib</a:t>
            </a:r>
            <a:r>
              <a:rPr sz="1200" dirty="0"/>
              <a:t> (Model Persistence)</a:t>
            </a:r>
          </a:p>
          <a:p>
            <a:endParaRPr sz="1200" dirty="0"/>
          </a:p>
          <a:p>
            <a:r>
              <a:rPr sz="1200" dirty="0"/>
              <a:t>Infrastructure:</a:t>
            </a:r>
          </a:p>
          <a:p>
            <a:r>
              <a:rPr sz="1200" dirty="0"/>
              <a:t>• </a:t>
            </a:r>
            <a:r>
              <a:rPr sz="1200" dirty="0" err="1"/>
              <a:t>Uvicorn</a:t>
            </a:r>
            <a:r>
              <a:rPr sz="1200" dirty="0"/>
              <a:t> (ASGI Server)</a:t>
            </a:r>
          </a:p>
          <a:p>
            <a:r>
              <a:rPr sz="1200" dirty="0"/>
              <a:t>• CORS (Cross-Origin)</a:t>
            </a:r>
          </a:p>
          <a:p>
            <a:r>
              <a:rPr sz="1200" dirty="0"/>
              <a:t>• JWT Tokens (Authentication)</a:t>
            </a:r>
          </a:p>
          <a:p>
            <a:r>
              <a:rPr sz="1200" dirty="0"/>
              <a:t>• Logging (Monitoring)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4448" cy="4525963"/>
          </a:xfrm>
        </p:spPr>
        <p:txBody>
          <a:bodyPr>
            <a:noAutofit/>
          </a:bodyPr>
          <a:lstStyle/>
          <a:p>
            <a:r>
              <a:rPr sz="1200" dirty="0"/>
              <a:t>Real-time Monitoring:</a:t>
            </a:r>
          </a:p>
          <a:p>
            <a:r>
              <a:rPr sz="1200" dirty="0"/>
              <a:t>• Live sensor data visualization</a:t>
            </a:r>
          </a:p>
          <a:p>
            <a:r>
              <a:rPr sz="1200" dirty="0"/>
              <a:t>• Process parameter tracking</a:t>
            </a:r>
          </a:p>
          <a:p>
            <a:r>
              <a:rPr sz="1200" dirty="0"/>
              <a:t>• Status indicators (Critical/Warning/Optimal)</a:t>
            </a:r>
          </a:p>
          <a:p>
            <a:r>
              <a:rPr sz="1200" dirty="0"/>
              <a:t>• Historical data analysis</a:t>
            </a:r>
          </a:p>
          <a:p>
            <a:endParaRPr sz="1200" dirty="0"/>
          </a:p>
          <a:p>
            <a:r>
              <a:rPr sz="1200" dirty="0"/>
              <a:t>ML-Powered Predictions:</a:t>
            </a:r>
          </a:p>
          <a:p>
            <a:r>
              <a:rPr sz="1200" dirty="0"/>
              <a:t>• Pb concentrate grade prediction</a:t>
            </a:r>
          </a:p>
          <a:p>
            <a:r>
              <a:rPr sz="1200" dirty="0"/>
              <a:t>• Recovery rate optimization</a:t>
            </a:r>
          </a:p>
          <a:p>
            <a:r>
              <a:rPr sz="1200" dirty="0"/>
              <a:t>• Process status classification</a:t>
            </a:r>
          </a:p>
          <a:p>
            <a:r>
              <a:rPr sz="1200" dirty="0"/>
              <a:t>• Predictive maintenance alerts</a:t>
            </a:r>
          </a:p>
          <a:p>
            <a:endParaRPr sz="1200" dirty="0"/>
          </a:p>
          <a:p>
            <a:r>
              <a:rPr sz="1200" dirty="0"/>
              <a:t>Authentication &amp; Security:</a:t>
            </a:r>
          </a:p>
          <a:p>
            <a:r>
              <a:rPr sz="1200" dirty="0"/>
              <a:t>• User login/logout system</a:t>
            </a:r>
          </a:p>
          <a:p>
            <a:r>
              <a:rPr sz="1200" dirty="0"/>
              <a:t>• Session management</a:t>
            </a:r>
          </a:p>
          <a:p>
            <a:r>
              <a:rPr sz="1200" dirty="0"/>
              <a:t>• Token-based authentication</a:t>
            </a:r>
          </a:p>
          <a:p>
            <a:r>
              <a:rPr sz="1200" dirty="0"/>
              <a:t>• Role-based access control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D8C9F6-434D-8810-F61C-CB6CCC7F3B80}"/>
              </a:ext>
            </a:extLst>
          </p:cNvPr>
          <p:cNvSpPr txBox="1">
            <a:spLocks/>
          </p:cNvSpPr>
          <p:nvPr/>
        </p:nvSpPr>
        <p:spPr>
          <a:xfrm>
            <a:off x="4660392" y="1414273"/>
            <a:ext cx="3584448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1200" dirty="0"/>
          </a:p>
          <a:p>
            <a:r>
              <a:rPr lang="en-ZA" sz="1200" dirty="0"/>
              <a:t>Data Management:</a:t>
            </a:r>
          </a:p>
          <a:p>
            <a:r>
              <a:rPr lang="en-ZA" sz="1200" dirty="0"/>
              <a:t>• SQLite database storage</a:t>
            </a:r>
          </a:p>
          <a:p>
            <a:r>
              <a:rPr lang="en-ZA" sz="1200" dirty="0"/>
              <a:t>• Real-time data generation</a:t>
            </a:r>
          </a:p>
          <a:p>
            <a:r>
              <a:rPr lang="en-ZA" sz="1200" dirty="0"/>
              <a:t>• Historical data archiving</a:t>
            </a:r>
          </a:p>
          <a:p>
            <a:r>
              <a:rPr lang="en-ZA" sz="1200" dirty="0"/>
              <a:t>• Export capabilities</a:t>
            </a:r>
          </a:p>
          <a:p>
            <a:endParaRPr lang="en-ZA" sz="1200" dirty="0"/>
          </a:p>
          <a:p>
            <a:r>
              <a:rPr lang="en-ZA" sz="1200" dirty="0"/>
              <a:t>System Integration:</a:t>
            </a:r>
          </a:p>
          <a:p>
            <a:r>
              <a:rPr lang="en-ZA" sz="1200" dirty="0"/>
              <a:t>• RESTful API endpoints</a:t>
            </a:r>
          </a:p>
          <a:p>
            <a:r>
              <a:rPr lang="en-ZA" sz="1200" dirty="0"/>
              <a:t>• WebSocket real-time communication</a:t>
            </a:r>
          </a:p>
          <a:p>
            <a:r>
              <a:rPr lang="en-ZA" sz="1200" dirty="0"/>
              <a:t>• Cross-service authentication</a:t>
            </a:r>
          </a:p>
          <a:p>
            <a:r>
              <a:rPr lang="en-ZA" sz="1200" dirty="0"/>
              <a:t>• Comprehensive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t>Current Deployment:</a:t>
            </a:r>
          </a:p>
          <a:p>
            <a:r>
              <a:t>• Single-server architecture</a:t>
            </a:r>
          </a:p>
          <a:p>
            <a:r>
              <a:t>• Local development environment</a:t>
            </a:r>
          </a:p>
          <a:p>
            <a:r>
              <a:t>• Integrated launcher script</a:t>
            </a:r>
          </a:p>
          <a:p>
            <a:r>
              <a:t>• Manual service management</a:t>
            </a:r>
          </a:p>
          <a:p>
            <a:endParaRPr/>
          </a:p>
          <a:p>
            <a:r>
              <a:t>Production Considerations:</a:t>
            </a:r>
          </a:p>
          <a:p>
            <a:r>
              <a:t>• Docker containerization</a:t>
            </a:r>
          </a:p>
          <a:p>
            <a:r>
              <a:t>• Load balancing</a:t>
            </a:r>
          </a:p>
          <a:p>
            <a:r>
              <a:t>• Database clustering</a:t>
            </a:r>
          </a:p>
          <a:p>
            <a:r>
              <a:t>• Monitoring &amp; alerting</a:t>
            </a:r>
          </a:p>
          <a:p>
            <a:endParaRPr/>
          </a:p>
          <a:p>
            <a:r>
              <a:t>Scalability Options:</a:t>
            </a:r>
          </a:p>
          <a:p>
            <a:r>
              <a:t>• Microservices architecture</a:t>
            </a:r>
          </a:p>
          <a:p>
            <a:r>
              <a:t>• Message queue integration</a:t>
            </a:r>
          </a:p>
          <a:p>
            <a:r>
              <a:t>• Distributed caching (Redis)</a:t>
            </a:r>
          </a:p>
          <a:p>
            <a:r>
              <a:t>• Cloud deployment (AWS/Azure)</a:t>
            </a:r>
          </a:p>
          <a:p>
            <a:endParaRPr/>
          </a:p>
          <a:p>
            <a:r>
              <a:t>Security Enhancements:</a:t>
            </a:r>
          </a:p>
          <a:p>
            <a:r>
              <a:t>• HTTPS/TLS encryption</a:t>
            </a:r>
          </a:p>
          <a:p>
            <a:r>
              <a:t>• API rate limiting</a:t>
            </a:r>
          </a:p>
          <a:p>
            <a:r>
              <a:t>• Input validation</a:t>
            </a:r>
          </a:p>
          <a:p>
            <a:r>
              <a:t>• SQL injection prevention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Benefits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t>Operational Benefits:</a:t>
            </a:r>
          </a:p>
          <a:p>
            <a:r>
              <a:t>• Real-time process monitoring</a:t>
            </a:r>
          </a:p>
          <a:p>
            <a:r>
              <a:t>• Predictive analytics for optimization</a:t>
            </a:r>
          </a:p>
          <a:p>
            <a:r>
              <a:t>• Reduced manual intervention</a:t>
            </a:r>
          </a:p>
          <a:p>
            <a:r>
              <a:t>• Improved decision-making</a:t>
            </a:r>
          </a:p>
          <a:p>
            <a:endParaRPr/>
          </a:p>
          <a:p>
            <a:r>
              <a:t>Technical Benefits:</a:t>
            </a:r>
          </a:p>
          <a:p>
            <a:r>
              <a:t>• SOLID principles implementation</a:t>
            </a:r>
          </a:p>
          <a:p>
            <a:r>
              <a:t>• Comprehensive unit testing</a:t>
            </a:r>
          </a:p>
          <a:p>
            <a:r>
              <a:t>• Modular architecture</a:t>
            </a:r>
          </a:p>
          <a:p>
            <a:r>
              <a:t>• Easy maintenance &amp; updates</a:t>
            </a:r>
          </a:p>
          <a:p>
            <a:endParaRPr/>
          </a:p>
          <a:p>
            <a:r>
              <a:t>Business Benefits:</a:t>
            </a:r>
          </a:p>
          <a:p>
            <a:r>
              <a:t>• Increased process efficiency</a:t>
            </a:r>
          </a:p>
          <a:p>
            <a:r>
              <a:t>• Reduced operational costs</a:t>
            </a:r>
          </a:p>
          <a:p>
            <a:r>
              <a:t>• Better resource utilization</a:t>
            </a:r>
          </a:p>
          <a:p>
            <a:r>
              <a:t>• Data-driven insights</a:t>
            </a:r>
          </a:p>
          <a:p>
            <a:endParaRPr/>
          </a:p>
          <a:p>
            <a:r>
              <a:t>Future Enhancements:</a:t>
            </a:r>
          </a:p>
          <a:p>
            <a:r>
              <a:t>• Additional ML models</a:t>
            </a:r>
          </a:p>
          <a:p>
            <a:r>
              <a:t>• Advanced analytics</a:t>
            </a:r>
          </a:p>
          <a:p>
            <a:r>
              <a:t>• Mobile application</a:t>
            </a:r>
          </a:p>
          <a:p>
            <a:r>
              <a:t>• IoT sensor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716</Words>
  <Application>Microsoft Office PowerPoint</Application>
  <PresentationFormat>On-screen Show (4:3)</PresentationFormat>
  <Paragraphs>174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Froth Flotation Digital Twin System</vt:lpstr>
      <vt:lpstr>System Overview</vt:lpstr>
      <vt:lpstr>PowerPoint Presentation</vt:lpstr>
      <vt:lpstr>Data Flow &amp; Communication</vt:lpstr>
      <vt:lpstr>Technology Stack</vt:lpstr>
      <vt:lpstr>Key System Features</vt:lpstr>
      <vt:lpstr>Deployment &amp; Scalability</vt:lpstr>
      <vt:lpstr>System Benefits &amp; ROI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Lusango Mvimbi</cp:lastModifiedBy>
  <cp:revision>3</cp:revision>
  <dcterms:created xsi:type="dcterms:W3CDTF">2013-01-27T09:14:16Z</dcterms:created>
  <dcterms:modified xsi:type="dcterms:W3CDTF">2025-08-18T13:23:13Z</dcterms:modified>
  <cp:category/>
</cp:coreProperties>
</file>